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ctrTitle"/>
          </p:nvPr>
        </p:nvSpPr>
        <p:spPr>
          <a:xfrm>
            <a:off x="2974428" y="1776248"/>
            <a:ext cx="8821800" cy="15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2"/>
          <p:cNvGrpSpPr/>
          <p:nvPr/>
        </p:nvGrpSpPr>
        <p:grpSpPr>
          <a:xfrm>
            <a:off x="1" y="758752"/>
            <a:ext cx="6099248" cy="6099247"/>
            <a:chOff x="0" y="12289"/>
            <a:chExt cx="3550" cy="3551"/>
          </a:xfrm>
        </p:grpSpPr>
        <p:sp>
          <p:nvSpPr>
            <p:cNvPr id="60" name="Google Shape;60;p2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63" name="Google Shape;63;p2"/>
          <p:cNvCxnSpPr/>
          <p:nvPr/>
        </p:nvCxnSpPr>
        <p:spPr>
          <a:xfrm>
            <a:off x="6318566" y="3536731"/>
            <a:ext cx="2133600" cy="390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5213" y="110606"/>
            <a:ext cx="1271217" cy="12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2554015" y="280008"/>
            <a:ext cx="92424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Franklin Gothic"/>
              <a:buNone/>
            </a:pPr>
            <a:r>
              <a:rPr lang="en-US" sz="2800" b="0" i="0" u="none">
                <a:solidFill>
                  <a:srgbClr val="C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Department of Computer Science &amp; Engineering,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Franklin Gothic"/>
              <a:buNone/>
            </a:pPr>
            <a:r>
              <a:rPr lang="en-US" sz="2800" b="0" i="0" u="none">
                <a:solidFill>
                  <a:srgbClr val="C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BIT Mesra, Jaipur Campus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Agenda 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3"/>
          <p:cNvGrpSpPr/>
          <p:nvPr/>
        </p:nvGrpSpPr>
        <p:grpSpPr>
          <a:xfrm>
            <a:off x="6362721" y="0"/>
            <a:ext cx="5829325" cy="3235616"/>
            <a:chOff x="5612972" y="1"/>
            <a:chExt cx="6615963" cy="3672246"/>
          </a:xfrm>
        </p:grpSpPr>
        <p:sp>
          <p:nvSpPr>
            <p:cNvPr id="68" name="Google Shape;68;p3"/>
            <p:cNvSpPr/>
            <p:nvPr/>
          </p:nvSpPr>
          <p:spPr>
            <a:xfrm>
              <a:off x="5612972" y="1"/>
              <a:ext cx="4408999" cy="3672247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8555590" y="1"/>
              <a:ext cx="1457755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9285083" y="728289"/>
              <a:ext cx="2943851" cy="2943959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594360" y="189573"/>
            <a:ext cx="67878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0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594359" y="1492144"/>
            <a:ext cx="6787800" cy="44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81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" name="Google Shape;76;p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7" name="Google Shape;77;p3"/>
          <p:cNvCxnSpPr/>
          <p:nvPr/>
        </p:nvCxnSpPr>
        <p:spPr>
          <a:xfrm>
            <a:off x="594359" y="1150357"/>
            <a:ext cx="2130600" cy="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2">
  <p:cSld name="Summary 2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4"/>
          <p:cNvCxnSpPr/>
          <p:nvPr/>
        </p:nvCxnSpPr>
        <p:spPr>
          <a:xfrm>
            <a:off x="594360" y="1234451"/>
            <a:ext cx="2133600" cy="390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80" name="Google Shape;80;p4"/>
          <p:cNvGrpSpPr/>
          <p:nvPr/>
        </p:nvGrpSpPr>
        <p:grpSpPr>
          <a:xfrm rot="5400000" flipH="1">
            <a:off x="1" y="3900132"/>
            <a:ext cx="2959226" cy="2959225"/>
            <a:chOff x="0" y="12289"/>
            <a:chExt cx="3550" cy="3551"/>
          </a:xfrm>
        </p:grpSpPr>
        <p:sp>
          <p:nvSpPr>
            <p:cNvPr id="81" name="Google Shape;81;p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84" name="Google Shape;84;p4"/>
          <p:cNvSpPr txBox="1">
            <a:spLocks noGrp="1"/>
          </p:cNvSpPr>
          <p:nvPr>
            <p:ph type="title"/>
          </p:nvPr>
        </p:nvSpPr>
        <p:spPr>
          <a:xfrm>
            <a:off x="594360" y="102875"/>
            <a:ext cx="10873800" cy="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0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"/>
          <p:cNvSpPr txBox="1">
            <a:spLocks noGrp="1"/>
          </p:cNvSpPr>
          <p:nvPr>
            <p:ph type="body" idx="1"/>
          </p:nvPr>
        </p:nvSpPr>
        <p:spPr>
          <a:xfrm>
            <a:off x="1513490" y="1618593"/>
            <a:ext cx="9954600" cy="44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/>
            </a:lvl1pPr>
            <a:lvl2pPr marL="914400" lvl="1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2pPr>
            <a:lvl3pPr marL="1371600" lvl="2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3pPr>
            <a:lvl4pPr marL="1828800" lvl="3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4pPr>
            <a:lvl5pPr marL="2286000" lvl="4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7" name="Google Shape;87;p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 2">
  <p:cSld name="Title and Two Content 2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5"/>
          <p:cNvGrpSpPr/>
          <p:nvPr/>
        </p:nvGrpSpPr>
        <p:grpSpPr>
          <a:xfrm rot="10800000">
            <a:off x="8870040" y="1"/>
            <a:ext cx="3325208" cy="3325207"/>
            <a:chOff x="0" y="12289"/>
            <a:chExt cx="3550" cy="3551"/>
          </a:xfrm>
        </p:grpSpPr>
        <p:sp>
          <p:nvSpPr>
            <p:cNvPr id="90" name="Google Shape;90;p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93" name="Google Shape;93;p5"/>
          <p:cNvSpPr txBox="1">
            <a:spLocks noGrp="1"/>
          </p:cNvSpPr>
          <p:nvPr>
            <p:ph type="title"/>
          </p:nvPr>
        </p:nvSpPr>
        <p:spPr>
          <a:xfrm>
            <a:off x="594360" y="278129"/>
            <a:ext cx="97785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body" idx="1"/>
          </p:nvPr>
        </p:nvSpPr>
        <p:spPr>
          <a:xfrm>
            <a:off x="594360" y="1630265"/>
            <a:ext cx="4490700" cy="3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body" idx="2"/>
          </p:nvPr>
        </p:nvSpPr>
        <p:spPr>
          <a:xfrm>
            <a:off x="5881898" y="1630265"/>
            <a:ext cx="4490700" cy="3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7" name="Google Shape;97;p5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5"/>
          <p:cNvCxnSpPr/>
          <p:nvPr/>
        </p:nvCxnSpPr>
        <p:spPr>
          <a:xfrm>
            <a:off x="594360" y="1244953"/>
            <a:ext cx="2133600" cy="390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">
  <p:cSld name="Title and Two Content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 rot="10800000">
            <a:off x="8870040" y="1"/>
            <a:ext cx="3325208" cy="3325207"/>
            <a:chOff x="0" y="12289"/>
            <a:chExt cx="3550" cy="3551"/>
          </a:xfrm>
        </p:grpSpPr>
        <p:sp>
          <p:nvSpPr>
            <p:cNvPr id="101" name="Google Shape;101;p6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6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05" name="Google Shape;105;p6"/>
          <p:cNvCxnSpPr/>
          <p:nvPr/>
        </p:nvCxnSpPr>
        <p:spPr>
          <a:xfrm>
            <a:off x="594360" y="1088114"/>
            <a:ext cx="2133600" cy="390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6" name="Google Shape;106;p6"/>
          <p:cNvSpPr txBox="1">
            <a:spLocks noGrp="1"/>
          </p:cNvSpPr>
          <p:nvPr>
            <p:ph type="body" idx="1"/>
          </p:nvPr>
        </p:nvSpPr>
        <p:spPr>
          <a:xfrm>
            <a:off x="595523" y="1460938"/>
            <a:ext cx="5746800" cy="4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6"/>
          <p:cNvSpPr txBox="1">
            <a:spLocks noGrp="1"/>
          </p:cNvSpPr>
          <p:nvPr>
            <p:ph type="body" idx="2"/>
          </p:nvPr>
        </p:nvSpPr>
        <p:spPr>
          <a:xfrm>
            <a:off x="6852745" y="1460938"/>
            <a:ext cx="4714500" cy="4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Title 3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ctrTitle"/>
          </p:nvPr>
        </p:nvSpPr>
        <p:spPr>
          <a:xfrm>
            <a:off x="1324302" y="411479"/>
            <a:ext cx="4756500" cy="28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7"/>
          <p:cNvGrpSpPr/>
          <p:nvPr/>
        </p:nvGrpSpPr>
        <p:grpSpPr>
          <a:xfrm rot="10800000">
            <a:off x="6092752" y="1"/>
            <a:ext cx="6099248" cy="6099247"/>
            <a:chOff x="0" y="12289"/>
            <a:chExt cx="3550" cy="3551"/>
          </a:xfrm>
        </p:grpSpPr>
        <p:sp>
          <p:nvSpPr>
            <p:cNvPr id="113" name="Google Shape;113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6" name="Google Shape;116;p7"/>
          <p:cNvSpPr txBox="1">
            <a:spLocks noGrp="1"/>
          </p:cNvSpPr>
          <p:nvPr>
            <p:ph type="body" idx="1"/>
          </p:nvPr>
        </p:nvSpPr>
        <p:spPr>
          <a:xfrm>
            <a:off x="1324302" y="3804745"/>
            <a:ext cx="4756500" cy="23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7" name="Google Shape;117;p7"/>
          <p:cNvCxnSpPr/>
          <p:nvPr/>
        </p:nvCxnSpPr>
        <p:spPr>
          <a:xfrm>
            <a:off x="1324302" y="3429000"/>
            <a:ext cx="2133600" cy="390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2">
  <p:cSld name="Table 2"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594360" y="202400"/>
            <a:ext cx="10972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8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1" name="Google Shape;121;p8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2" name="Google Shape;122;p8"/>
          <p:cNvCxnSpPr/>
          <p:nvPr/>
        </p:nvCxnSpPr>
        <p:spPr>
          <a:xfrm>
            <a:off x="594360" y="1129337"/>
            <a:ext cx="2133600" cy="390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594360" y="1825625"/>
            <a:ext cx="10382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594360" y="365125"/>
            <a:ext cx="10401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6" name="Google Shape;56;p1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3677-019-0128-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ctrTitle"/>
          </p:nvPr>
        </p:nvSpPr>
        <p:spPr>
          <a:xfrm>
            <a:off x="3125972" y="411479"/>
            <a:ext cx="8670300" cy="2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lin Gothic"/>
              <a:buNone/>
            </a:pPr>
            <a:r>
              <a:rPr sz="2500" b="1" i="0">
                <a:solidFill>
                  <a:srgbClr val="002060"/>
                </a:solidFill>
              </a:rPr>
              <a:t>AI-Powered Cloud Resource Demand Prediction
and Auto-Scaling System</a:t>
            </a:r>
            <a:endParaRPr sz="3000" b="0"/>
          </a:p>
        </p:txBody>
      </p:sp>
      <p:sp>
        <p:nvSpPr>
          <p:cNvPr id="129" name="Google Shape;129;p9"/>
          <p:cNvSpPr txBox="1"/>
          <p:nvPr/>
        </p:nvSpPr>
        <p:spPr>
          <a:xfrm>
            <a:off x="5858540" y="4423137"/>
            <a:ext cx="5667300" cy="233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002060"/>
                </a:solidFill>
              </a:rPr>
              <a:t>Pratistha Singh   |   </a:t>
            </a:r>
            <a:r>
              <a:rPr sz="1700" b="1" dirty="0" err="1">
                <a:solidFill>
                  <a:srgbClr val="002060"/>
                </a:solidFill>
              </a:rPr>
              <a:t>Btech</a:t>
            </a:r>
            <a:r>
              <a:rPr sz="1700" b="1" dirty="0">
                <a:solidFill>
                  <a:srgbClr val="002060"/>
                </a:solidFill>
              </a:rPr>
              <a:t>/25047/24</a:t>
            </a:r>
            <a:endParaRPr dirty="0"/>
          </a:p>
          <a:p>
            <a:r>
              <a:rPr sz="1700" b="1" dirty="0">
                <a:solidFill>
                  <a:srgbClr val="002060"/>
                </a:solidFill>
              </a:rPr>
              <a:t>Arushi Goel        |   </a:t>
            </a:r>
            <a:r>
              <a:rPr sz="1700" b="1" dirty="0" err="1">
                <a:solidFill>
                  <a:srgbClr val="002060"/>
                </a:solidFill>
              </a:rPr>
              <a:t>Btech</a:t>
            </a:r>
            <a:r>
              <a:rPr sz="1700" b="1" dirty="0">
                <a:solidFill>
                  <a:srgbClr val="002060"/>
                </a:solidFill>
              </a:rPr>
              <a:t>/25111/24</a:t>
            </a:r>
          </a:p>
          <a:p>
            <a:endParaRPr sz="1700" b="1" dirty="0">
              <a:solidFill>
                <a:srgbClr val="002060"/>
              </a:solidFill>
            </a:endParaRPr>
          </a:p>
          <a:p>
            <a:r>
              <a:rPr sz="1400" dirty="0" err="1">
                <a:solidFill>
                  <a:srgbClr val="595959"/>
                </a:solidFill>
              </a:rPr>
              <a:t>B.Tech</a:t>
            </a:r>
            <a:r>
              <a:rPr sz="1400" dirty="0">
                <a:solidFill>
                  <a:srgbClr val="595959"/>
                </a:solidFill>
              </a:rPr>
              <a:t> V Semester  |  CSE Section A</a:t>
            </a:r>
          </a:p>
          <a:p>
            <a:r>
              <a:rPr sz="1300" dirty="0">
                <a:solidFill>
                  <a:srgbClr val="595959"/>
                </a:solidFill>
              </a:rPr>
              <a:t>Dept. of Computer Science and Engineering</a:t>
            </a:r>
          </a:p>
          <a:p>
            <a:r>
              <a:rPr sz="1300" dirty="0">
                <a:solidFill>
                  <a:srgbClr val="595959"/>
                </a:solidFill>
              </a:rPr>
              <a:t>BIT, </a:t>
            </a:r>
            <a:r>
              <a:rPr sz="1300" dirty="0" err="1">
                <a:solidFill>
                  <a:srgbClr val="595959"/>
                </a:solidFill>
              </a:rPr>
              <a:t>Mesra</a:t>
            </a:r>
            <a:r>
              <a:rPr sz="1300" dirty="0">
                <a:solidFill>
                  <a:srgbClr val="595959"/>
                </a:solidFill>
              </a:rPr>
              <a:t> - Jaipur Campus</a:t>
            </a:r>
          </a:p>
          <a:p>
            <a:endParaRPr sz="1300" dirty="0">
              <a:solidFill>
                <a:srgbClr val="595959"/>
              </a:solidFill>
            </a:endParaRPr>
          </a:p>
          <a:p>
            <a:r>
              <a:rPr sz="1300" dirty="0">
                <a:solidFill>
                  <a:srgbClr val="595959"/>
                </a:solidFill>
              </a:rPr>
              <a:t>Under the Supervision of</a:t>
            </a:r>
          </a:p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Kuntal Mukherji</a:t>
            </a:r>
          </a:p>
          <a:p>
            <a:r>
              <a:rPr sz="1300" dirty="0">
                <a:solidFill>
                  <a:srgbClr val="C00000"/>
                </a:solidFill>
              </a:rPr>
              <a:t>Assistant Professor, BIT </a:t>
            </a:r>
            <a:r>
              <a:rPr sz="1300" dirty="0" err="1">
                <a:solidFill>
                  <a:srgbClr val="C00000"/>
                </a:solidFill>
              </a:rPr>
              <a:t>Mesra</a:t>
            </a:r>
            <a:r>
              <a:rPr sz="1300" dirty="0">
                <a:solidFill>
                  <a:srgbClr val="C00000"/>
                </a:solidFill>
              </a:rPr>
              <a:t> - Jaipur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title"/>
          </p:nvPr>
        </p:nvSpPr>
        <p:spPr>
          <a:xfrm>
            <a:off x="594360" y="168306"/>
            <a:ext cx="67878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>Table of Contents</a:t>
            </a:r>
            <a:endParaRPr b="0"/>
          </a:p>
        </p:txBody>
      </p:sp>
      <p:sp>
        <p:nvSpPr>
          <p:cNvPr id="136" name="Google Shape;136;p10"/>
          <p:cNvSpPr txBox="1">
            <a:spLocks noGrp="1"/>
          </p:cNvSpPr>
          <p:nvPr>
            <p:ph type="body" idx="1"/>
          </p:nvPr>
        </p:nvSpPr>
        <p:spPr>
          <a:xfrm>
            <a:off x="593724" y="1754372"/>
            <a:ext cx="6936000" cy="45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rmAutofit/>
          </a:bodyPr>
          <a:lstStyle/>
          <a:p>
            <a:pPr marL="285750" indent="-285750">
              <a:spcBef>
                <a:spcPts val="0"/>
              </a:spcBef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2060"/>
                </a:solidFill>
                <a:latin typeface="Candara" panose="020E0502030303020204" pitchFamily="34" charset="0"/>
              </a:rPr>
              <a:t>  </a:t>
            </a:r>
            <a:r>
              <a:rPr sz="15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Introduction</a:t>
            </a:r>
            <a:endParaRPr sz="1800" dirty="0">
              <a:latin typeface="Aharoni" panose="02010803020104030203" pitchFamily="2" charset="-79"/>
              <a:ea typeface="Segoe UI Black" panose="020B0A02040204020203" pitchFamily="34" charset="0"/>
              <a:cs typeface="Aharoni" panose="02010803020104030203" pitchFamily="2" charset="-79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  Problem Statement and Objectives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  Dataset Description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  Design and Methodology  (Part 1)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 Design and Methodology  (Part 2)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   Literature Review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 Conclusions and Future Scope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02060"/>
                </a:solidFill>
                <a:latin typeface="Aharoni" panose="02010803020104030203" pitchFamily="2" charset="-79"/>
                <a:ea typeface="Segoe UI Black" panose="020B0A02040204020203" pitchFamily="34" charset="0"/>
                <a:cs typeface="Aharoni" panose="02010803020104030203" pitchFamily="2" charset="-79"/>
              </a:rPr>
              <a:t>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616687" y="-416774"/>
            <a:ext cx="106494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>Introduction</a:t>
            </a:r>
          </a:p>
        </p:txBody>
      </p:sp>
      <p:grpSp>
        <p:nvGrpSpPr>
          <p:cNvPr id="143" name="Google Shape;143;p11"/>
          <p:cNvGrpSpPr/>
          <p:nvPr/>
        </p:nvGrpSpPr>
        <p:grpSpPr>
          <a:xfrm rot="16200000" flipH="1">
            <a:off x="9232774" y="16830"/>
            <a:ext cx="2959226" cy="2959225"/>
            <a:chOff x="0" y="12289"/>
            <a:chExt cx="3550" cy="3551"/>
          </a:xfrm>
        </p:grpSpPr>
        <p:sp>
          <p:nvSpPr>
            <p:cNvPr id="144" name="Google Shape;144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484039" y="1433100"/>
            <a:ext cx="1124712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 dirty="0">
                <a:solidFill>
                  <a:srgbClr val="002060"/>
                </a:solidFill>
              </a:rPr>
              <a:t>Dynamic Cloud Workload</a:t>
            </a:r>
          </a:p>
          <a:p>
            <a:r>
              <a:rPr dirty="0">
                <a:solidFill>
                  <a:srgbClr val="000000"/>
                </a:solidFill>
              </a:rPr>
              <a:t>Modern microservice web applications face highly dynamic, non-linear traffic bursts.</a:t>
            </a:r>
          </a:p>
          <a:p>
            <a:r>
              <a:rPr dirty="0">
                <a:solidFill>
                  <a:srgbClr val="000000"/>
                </a:solidFill>
              </a:rPr>
              <a:t>User demand swings unpredictably due to flash sales, breaking events, and viral user activity.</a:t>
            </a:r>
          </a:p>
          <a:p>
            <a:r>
              <a:rPr dirty="0">
                <a:solidFill>
                  <a:srgbClr val="000000"/>
                </a:solidFill>
              </a:rPr>
              <a:t>High static resource allocation leads to severe financial and energy inefficiency during low-traffic periods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  <a:p>
            <a:endParaRPr sz="1300" dirty="0">
              <a:solidFill>
                <a:srgbClr val="000000"/>
              </a:solidFill>
            </a:endParaRPr>
          </a:p>
          <a:p>
            <a:r>
              <a:rPr sz="1600" b="1" dirty="0">
                <a:solidFill>
                  <a:srgbClr val="C00000"/>
                </a:solidFill>
              </a:rPr>
              <a:t>Legacy Reactive Scaling</a:t>
            </a:r>
          </a:p>
          <a:p>
            <a:r>
              <a:rPr dirty="0">
                <a:solidFill>
                  <a:srgbClr val="000000"/>
                </a:solidFill>
              </a:rPr>
              <a:t>Threshold-based triggers (e.g., Kubernetes HPA at CPU &gt; 80%) react ONLY AFTER congestion occurs.</a:t>
            </a:r>
          </a:p>
          <a:p>
            <a:r>
              <a:rPr dirty="0">
                <a:solidFill>
                  <a:srgbClr val="000000"/>
                </a:solidFill>
              </a:rPr>
              <a:t>Container Cold-Start Lag: Pod spinning, image pulling, and readiness checks take 30s to 180s.</a:t>
            </a:r>
          </a:p>
          <a:p>
            <a:r>
              <a:rPr dirty="0">
                <a:solidFill>
                  <a:srgbClr val="C00000"/>
                </a:solidFill>
              </a:rPr>
              <a:t>Result: Unavoidable transient performance degradation, dropped packets, and SLA violations.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4178" y="3723285"/>
            <a:ext cx="8503920" cy="2651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 dirty="0">
                <a:solidFill>
                  <a:srgbClr val="007036"/>
                </a:solidFill>
              </a:rPr>
              <a:t>Proposed AI Solution</a:t>
            </a:r>
          </a:p>
          <a:p>
            <a:r>
              <a:rPr dirty="0">
                <a:solidFill>
                  <a:srgbClr val="000000"/>
                </a:solidFill>
              </a:rPr>
              <a:t>Proactive Demand Prediction:  Deep time-series models (GRU/LSTM)</a:t>
            </a:r>
          </a:p>
          <a:p>
            <a:r>
              <a:rPr dirty="0">
                <a:solidFill>
                  <a:srgbClr val="000000"/>
                </a:solidFill>
              </a:rPr>
              <a:t>forecast workload surges 3 to 5 minutes ahead.</a:t>
            </a:r>
          </a:p>
          <a:p>
            <a:endParaRPr dirty="0">
              <a:solidFill>
                <a:srgbClr val="000000"/>
              </a:solidFill>
            </a:endParaRPr>
          </a:p>
          <a:p>
            <a:r>
              <a:rPr dirty="0">
                <a:solidFill>
                  <a:srgbClr val="000000"/>
                </a:solidFill>
              </a:rPr>
              <a:t>Closed-Loop Orchestration:  Programmatically triggers Kubernetes pod</a:t>
            </a:r>
          </a:p>
          <a:p>
            <a:r>
              <a:rPr dirty="0">
                <a:solidFill>
                  <a:srgbClr val="000000"/>
                </a:solidFill>
              </a:rPr>
              <a:t>scaling before traffic spikes hit the cluster.</a:t>
            </a:r>
          </a:p>
          <a:p>
            <a:endParaRPr dirty="0">
              <a:solidFill>
                <a:srgbClr val="000000"/>
              </a:solidFill>
            </a:endParaRPr>
          </a:p>
          <a:p>
            <a:r>
              <a:rPr b="1" dirty="0">
                <a:solidFill>
                  <a:srgbClr val="007036"/>
                </a:solidFill>
              </a:rPr>
              <a:t>Eliminates cold-start delays while optimizing cluster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>
            <a:spLocks noGrp="1"/>
          </p:cNvSpPr>
          <p:nvPr>
            <p:ph type="title"/>
          </p:nvPr>
        </p:nvSpPr>
        <p:spPr>
          <a:xfrm>
            <a:off x="594360" y="278128"/>
            <a:ext cx="10761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>Problem Statement and Objectives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7200" y="1051560"/>
            <a:ext cx="11247120" cy="5349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1700" b="1" dirty="0">
              <a:solidFill>
                <a:srgbClr val="C00000"/>
              </a:solidFill>
            </a:endParaRPr>
          </a:p>
          <a:p>
            <a:endParaRPr lang="en-IN" sz="1700" b="1" dirty="0">
              <a:solidFill>
                <a:srgbClr val="C00000"/>
              </a:solidFill>
            </a:endParaRPr>
          </a:p>
          <a:p>
            <a:r>
              <a:rPr sz="1800" b="1" dirty="0">
                <a:solidFill>
                  <a:srgbClr val="C00000"/>
                </a:solidFill>
              </a:rPr>
              <a:t>Problem Statement</a:t>
            </a:r>
          </a:p>
          <a:p>
            <a:r>
              <a:rPr sz="1600" dirty="0">
                <a:solidFill>
                  <a:srgbClr val="000000"/>
                </a:solidFill>
              </a:rPr>
              <a:t>Cloud applications experience continuously changing and unpredictable workloads.</a:t>
            </a:r>
          </a:p>
          <a:p>
            <a:r>
              <a:rPr sz="1600" dirty="0">
                <a:solidFill>
                  <a:srgbClr val="000000"/>
                </a:solidFill>
              </a:rPr>
              <a:t>During high-demand periods, insufficient resources cause slow response times,</a:t>
            </a:r>
          </a:p>
          <a:p>
            <a:r>
              <a:rPr sz="1600" dirty="0">
                <a:solidFill>
                  <a:srgbClr val="000000"/>
                </a:solidFill>
              </a:rPr>
              <a:t>service degradation, and failures that directly impact end users.</a:t>
            </a:r>
          </a:p>
          <a:p>
            <a:r>
              <a:rPr sz="1600" dirty="0">
                <a:solidFill>
                  <a:srgbClr val="000000"/>
                </a:solidFill>
              </a:rPr>
              <a:t>On the other hand, allocating too many resources during low-demand periods</a:t>
            </a:r>
          </a:p>
          <a:p>
            <a:r>
              <a:rPr sz="1600" dirty="0">
                <a:solidFill>
                  <a:srgbClr val="000000"/>
                </a:solidFill>
              </a:rPr>
              <a:t>leads to unnecessary cloud costs and significant resource wastage.</a:t>
            </a:r>
          </a:p>
          <a:p>
            <a:endParaRPr sz="1600" dirty="0">
              <a:solidFill>
                <a:srgbClr val="000000"/>
              </a:solidFill>
            </a:endParaRPr>
          </a:p>
          <a:p>
            <a:r>
              <a:rPr sz="1600" dirty="0">
                <a:solidFill>
                  <a:srgbClr val="000000"/>
                </a:solidFill>
              </a:rPr>
              <a:t>Traditional auto-scaling methods usually react after resource usage increases.</a:t>
            </a:r>
          </a:p>
          <a:p>
            <a:r>
              <a:rPr sz="1600" dirty="0">
                <a:solidFill>
                  <a:srgbClr val="000000"/>
                </a:solidFill>
              </a:rPr>
              <a:t>This reactive approach causes delays because the system needs time to detect</a:t>
            </a:r>
          </a:p>
          <a:p>
            <a:r>
              <a:rPr sz="1600" dirty="0">
                <a:solidFill>
                  <a:srgbClr val="C00000"/>
                </a:solidFill>
              </a:rPr>
              <a:t>the increased demand and provision additional resources (30-180 seconds),</a:t>
            </a:r>
          </a:p>
          <a:p>
            <a:r>
              <a:rPr sz="1600" dirty="0">
                <a:solidFill>
                  <a:srgbClr val="C00000"/>
                </a:solidFill>
              </a:rPr>
              <a:t>leaving a critical vulnerability window where users experience service failures.</a:t>
            </a:r>
          </a:p>
          <a:p>
            <a:endParaRPr sz="1600" dirty="0">
              <a:solidFill>
                <a:srgbClr val="C00000"/>
              </a:solidFill>
            </a:endParaRPr>
          </a:p>
          <a:p>
            <a:r>
              <a:rPr sz="1800" b="1" dirty="0">
                <a:solidFill>
                  <a:srgbClr val="002060"/>
                </a:solidFill>
              </a:rPr>
              <a:t>Research Objectives</a:t>
            </a:r>
          </a:p>
          <a:p>
            <a:r>
              <a:rPr sz="1600" dirty="0">
                <a:solidFill>
                  <a:srgbClr val="000000"/>
                </a:solidFill>
              </a:rPr>
              <a:t>1.  Forecast CPU, memory and request-rate demand 3-5 min ahead using AI models.</a:t>
            </a:r>
          </a:p>
          <a:p>
            <a:r>
              <a:rPr sz="1600" dirty="0">
                <a:solidFill>
                  <a:srgbClr val="000000"/>
                </a:solidFill>
              </a:rPr>
              <a:t>2.  Build a proactive Kubernetes controller that scales pods before load arrives.</a:t>
            </a:r>
          </a:p>
          <a:p>
            <a:r>
              <a:rPr sz="1600" dirty="0">
                <a:solidFill>
                  <a:srgbClr val="000000"/>
                </a:solidFill>
              </a:rPr>
              <a:t>3.  Eliminate SLA violations and reduce resource wastage by 20-30 percent.</a:t>
            </a:r>
          </a:p>
          <a:p>
            <a:r>
              <a:rPr sz="1600" dirty="0">
                <a:solidFill>
                  <a:srgbClr val="000000"/>
                </a:solidFill>
              </a:rPr>
              <a:t>4.  Validate the system with live Prometheus metrics and Grafana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616687" y="373224"/>
            <a:ext cx="10649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>Dataset Description</a:t>
            </a:r>
          </a:p>
        </p:txBody>
      </p:sp>
      <p:grpSp>
        <p:nvGrpSpPr>
          <p:cNvPr id="159" name="Google Shape;159;p13"/>
          <p:cNvGrpSpPr/>
          <p:nvPr/>
        </p:nvGrpSpPr>
        <p:grpSpPr>
          <a:xfrm rot="5400000" flipH="1">
            <a:off x="1" y="3900132"/>
            <a:ext cx="2959226" cy="2959225"/>
            <a:chOff x="0" y="12289"/>
            <a:chExt cx="3550" cy="3551"/>
          </a:xfrm>
        </p:grpSpPr>
        <p:sp>
          <p:nvSpPr>
            <p:cNvPr id="160" name="Google Shape;160;p13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3" name="TextBox 162"/>
          <p:cNvSpPr txBox="1"/>
          <p:nvPr/>
        </p:nvSpPr>
        <p:spPr>
          <a:xfrm>
            <a:off x="457200" y="1347009"/>
            <a:ext cx="1124712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1500" b="1" dirty="0">
              <a:solidFill>
                <a:srgbClr val="002060"/>
              </a:solidFill>
            </a:endParaRPr>
          </a:p>
          <a:p>
            <a:r>
              <a:rPr sz="1800" b="1" dirty="0">
                <a:solidFill>
                  <a:srgbClr val="002060"/>
                </a:solidFill>
              </a:rPr>
              <a:t>Dataset 1  -  Google Cluster Workload Traces v2  (2020)</a:t>
            </a:r>
          </a:p>
          <a:p>
            <a:r>
              <a:rPr sz="1600" dirty="0">
                <a:solidFill>
                  <a:srgbClr val="000000"/>
                </a:solidFill>
              </a:rPr>
              <a:t>Published by Google. Contains CPU and memory usage metrics sampled every 5 seconds</a:t>
            </a:r>
          </a:p>
          <a:p>
            <a:r>
              <a:rPr sz="1600" dirty="0">
                <a:solidFill>
                  <a:srgbClr val="000000"/>
                </a:solidFill>
              </a:rPr>
              <a:t>from thousands of container jobs running on a real Google data-</a:t>
            </a:r>
            <a:r>
              <a:rPr sz="1600" dirty="0" err="1">
                <a:solidFill>
                  <a:srgbClr val="000000"/>
                </a:solidFill>
              </a:rPr>
              <a:t>centre</a:t>
            </a:r>
            <a:r>
              <a:rPr sz="1600" dirty="0">
                <a:solidFill>
                  <a:srgbClr val="000000"/>
                </a:solidFill>
              </a:rPr>
              <a:t> cluster.</a:t>
            </a:r>
          </a:p>
          <a:p>
            <a:r>
              <a:rPr sz="1600" dirty="0">
                <a:solidFill>
                  <a:srgbClr val="000000"/>
                </a:solidFill>
              </a:rPr>
              <a:t>Covers both stable periodic patterns AND sudden burst events, making it ideal for</a:t>
            </a:r>
          </a:p>
          <a:p>
            <a:r>
              <a:rPr sz="1600" dirty="0">
                <a:solidFill>
                  <a:srgbClr val="000000"/>
                </a:solidFill>
              </a:rPr>
              <a:t>training and validating deep learning forecasting models under realistic conditions.</a:t>
            </a:r>
          </a:p>
          <a:p>
            <a:r>
              <a:rPr sz="1600" i="1" dirty="0">
                <a:solidFill>
                  <a:srgbClr val="595959"/>
                </a:solidFill>
              </a:rPr>
              <a:t>Source: github.com/google/cluster-data</a:t>
            </a:r>
          </a:p>
          <a:p>
            <a:endParaRPr sz="1800" i="1" dirty="0">
              <a:solidFill>
                <a:srgbClr val="595959"/>
              </a:solidFill>
            </a:endParaRPr>
          </a:p>
          <a:p>
            <a:r>
              <a:rPr sz="1800" b="1" dirty="0">
                <a:solidFill>
                  <a:srgbClr val="002060"/>
                </a:solidFill>
              </a:rPr>
              <a:t>Dataset 2  -  NASA HTTP Web Server Access Logs</a:t>
            </a:r>
          </a:p>
          <a:p>
            <a:r>
              <a:rPr sz="1600" dirty="0">
                <a:solidFill>
                  <a:srgbClr val="000000"/>
                </a:solidFill>
              </a:rPr>
              <a:t>Real-world HTTP access logs from NASA Kennedy Space Centre web servers.</a:t>
            </a:r>
          </a:p>
          <a:p>
            <a:r>
              <a:rPr sz="1600" dirty="0">
                <a:solidFill>
                  <a:srgbClr val="000000"/>
                </a:solidFill>
              </a:rPr>
              <a:t>Contains over 1.8 million requests with timestamps, showing strong diurnal (day/night)</a:t>
            </a:r>
          </a:p>
          <a:p>
            <a:r>
              <a:rPr sz="1600" dirty="0">
                <a:solidFill>
                  <a:srgbClr val="000000"/>
                </a:solidFill>
              </a:rPr>
              <a:t>traffic cycles and sharp burst spikes triggered by news events.</a:t>
            </a:r>
          </a:p>
          <a:p>
            <a:r>
              <a:rPr sz="1600" dirty="0">
                <a:solidFill>
                  <a:srgbClr val="000000"/>
                </a:solidFill>
              </a:rPr>
              <a:t>Used to model request-rate time series and test how well the system handles</a:t>
            </a:r>
          </a:p>
          <a:p>
            <a:r>
              <a:rPr sz="1600" dirty="0">
                <a:solidFill>
                  <a:srgbClr val="000000"/>
                </a:solidFill>
              </a:rPr>
              <a:t>sudden public-traffic surges typical of real web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title"/>
          </p:nvPr>
        </p:nvSpPr>
        <p:spPr>
          <a:xfrm>
            <a:off x="616687" y="373224"/>
            <a:ext cx="10649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>Design and Methodology  -  Part 1</a:t>
            </a:r>
          </a:p>
        </p:txBody>
      </p:sp>
      <p:grpSp>
        <p:nvGrpSpPr>
          <p:cNvPr id="170" name="Google Shape;170;p14"/>
          <p:cNvGrpSpPr/>
          <p:nvPr/>
        </p:nvGrpSpPr>
        <p:grpSpPr>
          <a:xfrm rot="5400000" flipH="1">
            <a:off x="1" y="3900132"/>
            <a:ext cx="2959226" cy="2959225"/>
            <a:chOff x="0" y="12289"/>
            <a:chExt cx="3550" cy="3551"/>
          </a:xfrm>
        </p:grpSpPr>
        <p:sp>
          <p:nvSpPr>
            <p:cNvPr id="171" name="Google Shape;171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74" name="TextBox 173"/>
          <p:cNvSpPr txBox="1"/>
          <p:nvPr/>
        </p:nvSpPr>
        <p:spPr>
          <a:xfrm>
            <a:off x="457200" y="1143000"/>
            <a:ext cx="1124712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1600" b="1" dirty="0">
              <a:solidFill>
                <a:srgbClr val="002060"/>
              </a:solidFill>
            </a:endParaRPr>
          </a:p>
          <a:p>
            <a:endParaRPr lang="en-IN" sz="1600" b="1" dirty="0">
              <a:solidFill>
                <a:srgbClr val="002060"/>
              </a:solidFill>
            </a:endParaRPr>
          </a:p>
          <a:p>
            <a:r>
              <a:rPr sz="1600" b="1" dirty="0">
                <a:solidFill>
                  <a:srgbClr val="002060"/>
                </a:solidFill>
              </a:rPr>
              <a:t>End-to-End System Pipeline  (Planned)</a:t>
            </a:r>
          </a:p>
          <a:p>
            <a:r>
              <a:rPr sz="1600" dirty="0">
                <a:solidFill>
                  <a:srgbClr val="595959"/>
                </a:solidFill>
              </a:rPr>
              <a:t>Raw Data  -&gt;  Preprocessing  -&gt;  Feature Engineering  -&gt;  Model Training-&gt;</a:t>
            </a:r>
            <a:endParaRPr lang="en-US" sz="1600" dirty="0">
              <a:solidFill>
                <a:srgbClr val="595959"/>
              </a:solidFill>
            </a:endParaRPr>
          </a:p>
          <a:p>
            <a:r>
              <a:rPr sz="1600" dirty="0">
                <a:solidFill>
                  <a:srgbClr val="595959"/>
                </a:solidFill>
              </a:rPr>
              <a:t>Forecasting Engine  -&gt;  Scaling Controller  -&gt;  Kubernetes REST API</a:t>
            </a:r>
          </a:p>
          <a:p>
            <a:endParaRPr sz="1300" dirty="0">
              <a:solidFill>
                <a:srgbClr val="595959"/>
              </a:solidFill>
            </a:endParaRPr>
          </a:p>
          <a:p>
            <a:r>
              <a:rPr sz="1600" b="1" dirty="0">
                <a:solidFill>
                  <a:srgbClr val="0070C0"/>
                </a:solidFill>
              </a:rPr>
              <a:t>Module 1  -  Data Preprocessing</a:t>
            </a:r>
          </a:p>
          <a:p>
            <a:r>
              <a:rPr dirty="0">
                <a:solidFill>
                  <a:srgbClr val="000000"/>
                </a:solidFill>
              </a:rPr>
              <a:t>Ingests raw telemetry, handles missing values via forward-fill and imputation,</a:t>
            </a:r>
          </a:p>
          <a:p>
            <a:r>
              <a:rPr dirty="0">
                <a:solidFill>
                  <a:srgbClr val="000000"/>
                </a:solidFill>
              </a:rPr>
              <a:t>applies </a:t>
            </a:r>
            <a:r>
              <a:rPr dirty="0" err="1">
                <a:solidFill>
                  <a:srgbClr val="000000"/>
                </a:solidFill>
              </a:rPr>
              <a:t>MinMaxScaler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normalisation</a:t>
            </a:r>
            <a:r>
              <a:rPr dirty="0">
                <a:solidFill>
                  <a:srgbClr val="000000"/>
                </a:solidFill>
              </a:rPr>
              <a:t>, and creates sliding-window sequences</a:t>
            </a:r>
          </a:p>
          <a:p>
            <a:r>
              <a:rPr dirty="0">
                <a:solidFill>
                  <a:srgbClr val="000000"/>
                </a:solidFill>
              </a:rPr>
              <a:t>ready for model training.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3723285"/>
            <a:ext cx="8503920" cy="2651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 dirty="0">
                <a:solidFill>
                  <a:srgbClr val="0070C0"/>
                </a:solidFill>
              </a:rPr>
              <a:t>Module 2  -  Feature Engineering</a:t>
            </a:r>
          </a:p>
          <a:p>
            <a:r>
              <a:rPr dirty="0">
                <a:solidFill>
                  <a:srgbClr val="000000"/>
                </a:solidFill>
              </a:rPr>
              <a:t>Derives lag features from historical CPU and memory readings,</a:t>
            </a:r>
          </a:p>
          <a:p>
            <a:r>
              <a:rPr dirty="0">
                <a:solidFill>
                  <a:srgbClr val="000000"/>
                </a:solidFill>
              </a:rPr>
              <a:t>computes rolling statistics (mean and standard deviation), and</a:t>
            </a:r>
          </a:p>
          <a:p>
            <a:r>
              <a:rPr dirty="0">
                <a:solidFill>
                  <a:srgbClr val="000000"/>
                </a:solidFill>
              </a:rPr>
              <a:t>encodes time-of-day calendar indices to capture diurnal demand patterns.</a:t>
            </a:r>
          </a:p>
          <a:p>
            <a:endParaRPr dirty="0">
              <a:solidFill>
                <a:srgbClr val="000000"/>
              </a:solidFill>
            </a:endParaRPr>
          </a:p>
          <a:p>
            <a:r>
              <a:rPr i="1" dirty="0">
                <a:solidFill>
                  <a:srgbClr val="595959"/>
                </a:solidFill>
              </a:rPr>
              <a:t>Both modules together ensure the model receives clean, enriched,</a:t>
            </a:r>
          </a:p>
          <a:p>
            <a:r>
              <a:rPr i="1" dirty="0">
                <a:solidFill>
                  <a:srgbClr val="595959"/>
                </a:solidFill>
              </a:rPr>
              <a:t>temporally-structured data as input sequences.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E8A396-94D3-C168-9A55-33CEE1FF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34" y="1143000"/>
            <a:ext cx="3428967" cy="5437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and Methodology  - 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2821"/>
            <a:ext cx="1124712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1500" b="1" dirty="0">
              <a:solidFill>
                <a:srgbClr val="0070C0"/>
              </a:solidFill>
            </a:endParaRPr>
          </a:p>
          <a:p>
            <a:endParaRPr lang="en-IN" sz="1500" b="1" dirty="0">
              <a:solidFill>
                <a:srgbClr val="0070C0"/>
              </a:solidFill>
            </a:endParaRPr>
          </a:p>
          <a:p>
            <a:r>
              <a:rPr sz="1800" b="1" dirty="0">
                <a:solidFill>
                  <a:srgbClr val="0070C0"/>
                </a:solidFill>
              </a:rPr>
              <a:t>Module 3  -  Model Training and Selection</a:t>
            </a:r>
          </a:p>
          <a:p>
            <a:r>
              <a:rPr sz="1600" dirty="0">
                <a:solidFill>
                  <a:srgbClr val="000000"/>
                </a:solidFill>
              </a:rPr>
              <a:t>Trains ARIMA, Random Forest, </a:t>
            </a:r>
            <a:r>
              <a:rPr sz="1600" dirty="0" err="1">
                <a:solidFill>
                  <a:srgbClr val="000000"/>
                </a:solidFill>
              </a:rPr>
              <a:t>XGBoost</a:t>
            </a:r>
            <a:r>
              <a:rPr sz="1600" dirty="0">
                <a:solidFill>
                  <a:srgbClr val="000000"/>
                </a:solidFill>
              </a:rPr>
              <a:t>, LSTM, and GRU on the prepared sequences.</a:t>
            </a:r>
          </a:p>
          <a:p>
            <a:r>
              <a:rPr sz="1600" dirty="0">
                <a:solidFill>
                  <a:srgbClr val="000000"/>
                </a:solidFill>
              </a:rPr>
              <a:t>Evaluates each on the validation set using MAE and RMSE metrics.</a:t>
            </a:r>
          </a:p>
          <a:p>
            <a:r>
              <a:rPr sz="1600" dirty="0">
                <a:solidFill>
                  <a:srgbClr val="000000"/>
                </a:solidFill>
              </a:rPr>
              <a:t>The model with the lowest error is saved as the active forecasting checkpoint.</a:t>
            </a:r>
          </a:p>
          <a:p>
            <a:endParaRPr sz="1300" dirty="0">
              <a:solidFill>
                <a:srgbClr val="000000"/>
              </a:solidFill>
            </a:endParaRPr>
          </a:p>
          <a:p>
            <a:r>
              <a:rPr sz="1800" b="1" dirty="0">
                <a:solidFill>
                  <a:srgbClr val="0070C0"/>
                </a:solidFill>
              </a:rPr>
              <a:t>Module 4  -  Forecasting Engine</a:t>
            </a:r>
          </a:p>
          <a:p>
            <a:r>
              <a:rPr sz="1600" dirty="0">
                <a:solidFill>
                  <a:srgbClr val="000000"/>
                </a:solidFill>
              </a:rPr>
              <a:t>The selected model takes recent metric history and outputs a predicted</a:t>
            </a:r>
          </a:p>
          <a:p>
            <a:r>
              <a:rPr sz="1600" dirty="0">
                <a:solidFill>
                  <a:srgbClr val="000000"/>
                </a:solidFill>
              </a:rPr>
              <a:t>resource </a:t>
            </a:r>
            <a:r>
              <a:rPr sz="1600" dirty="0" err="1">
                <a:solidFill>
                  <a:srgbClr val="000000"/>
                </a:solidFill>
              </a:rPr>
              <a:t>utilisation</a:t>
            </a:r>
            <a:r>
              <a:rPr sz="1600" dirty="0">
                <a:solidFill>
                  <a:srgbClr val="000000"/>
                </a:solidFill>
              </a:rPr>
              <a:t> value 3 to 5 minutes into the future.</a:t>
            </a:r>
          </a:p>
          <a:p>
            <a:r>
              <a:rPr sz="1600" dirty="0">
                <a:solidFill>
                  <a:srgbClr val="000000"/>
                </a:solidFill>
              </a:rPr>
              <a:t>This lead time allows the controller to act before the load actually arrives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  <a:p>
            <a:endParaRPr sz="1800" dirty="0">
              <a:solidFill>
                <a:srgbClr val="000000"/>
              </a:solidFill>
            </a:endParaRPr>
          </a:p>
          <a:p>
            <a:r>
              <a:rPr sz="1800" b="1" dirty="0">
                <a:solidFill>
                  <a:srgbClr val="0070C0"/>
                </a:solidFill>
              </a:rPr>
              <a:t>Module 5  -  Scaling Controller  (Planned)</a:t>
            </a:r>
          </a:p>
          <a:p>
            <a:r>
              <a:rPr sz="1600" dirty="0">
                <a:solidFill>
                  <a:srgbClr val="000000"/>
                </a:solidFill>
              </a:rPr>
              <a:t>Every 30 seconds: reads the forecast, calculates the required pod replica</a:t>
            </a:r>
          </a:p>
          <a:p>
            <a:r>
              <a:rPr sz="1600" dirty="0">
                <a:solidFill>
                  <a:srgbClr val="000000"/>
                </a:solidFill>
              </a:rPr>
              <a:t>count, and sends a PATCH command to the Kubernetes REST API server.</a:t>
            </a:r>
          </a:p>
          <a:p>
            <a:r>
              <a:rPr sz="1600" dirty="0">
                <a:solidFill>
                  <a:srgbClr val="000000"/>
                </a:solidFill>
              </a:rPr>
              <a:t>Pods are warm and ready before the traffic spike arrives.</a:t>
            </a:r>
          </a:p>
          <a:p>
            <a:endParaRPr sz="1600" dirty="0">
              <a:solidFill>
                <a:srgbClr val="000000"/>
              </a:solidFill>
            </a:endParaRPr>
          </a:p>
          <a:p>
            <a:r>
              <a:rPr sz="1800" b="1" dirty="0">
                <a:solidFill>
                  <a:srgbClr val="0070C0"/>
                </a:solidFill>
              </a:rPr>
              <a:t>Module 6  -  Observability Layer</a:t>
            </a:r>
          </a:p>
          <a:p>
            <a:r>
              <a:rPr sz="1600" dirty="0">
                <a:solidFill>
                  <a:srgbClr val="000000"/>
                </a:solidFill>
              </a:rPr>
              <a:t>Prometheus scrapes live cluster metrics every 5 seconds.</a:t>
            </a:r>
          </a:p>
          <a:p>
            <a:r>
              <a:rPr sz="1600" dirty="0">
                <a:solidFill>
                  <a:srgbClr val="000000"/>
                </a:solidFill>
              </a:rPr>
              <a:t>Grafana renders real-time dashboards: predicted load, actual usage, replicas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Franklin Gothic"/>
              <a:buNone/>
            </a:pPr>
            <a:br>
              <a:rPr lang="en-US">
                <a:solidFill>
                  <a:srgbClr val="002060"/>
                </a:solidFill>
              </a:rPr>
            </a:br>
            <a:br>
              <a:rPr lang="en-US">
                <a:solidFill>
                  <a:srgbClr val="002060"/>
                </a:solidFill>
              </a:rPr>
            </a:br>
            <a:r>
              <a:t>Literature Review</a:t>
            </a:r>
            <a:endParaRPr b="0"/>
          </a:p>
        </p:txBody>
      </p:sp>
      <p:sp>
        <p:nvSpPr>
          <p:cNvPr id="180" name="TextBox 179"/>
          <p:cNvSpPr txBox="1"/>
          <p:nvPr/>
        </p:nvSpPr>
        <p:spPr>
          <a:xfrm>
            <a:off x="395256" y="1349969"/>
            <a:ext cx="438912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 dirty="0">
                <a:solidFill>
                  <a:srgbClr val="002060"/>
                </a:solidFill>
              </a:rPr>
              <a:t>Survey of Existing Approaches</a:t>
            </a:r>
          </a:p>
          <a:p>
            <a:endParaRPr sz="1500" b="1" dirty="0">
              <a:solidFill>
                <a:srgbClr val="002060"/>
              </a:solidFill>
            </a:endParaRPr>
          </a:p>
          <a:p>
            <a:r>
              <a:rPr sz="1300" b="1" dirty="0">
                <a:solidFill>
                  <a:srgbClr val="0070C0"/>
                </a:solidFill>
              </a:rPr>
              <a:t>1.  ARIMA / Holt-Winters  (Statistical)</a:t>
            </a:r>
          </a:p>
          <a:p>
            <a:r>
              <a:rPr sz="1200" dirty="0">
                <a:solidFill>
                  <a:srgbClr val="000000"/>
                </a:solidFill>
              </a:rPr>
              <a:t>Classical time-series models that work well for</a:t>
            </a:r>
          </a:p>
          <a:p>
            <a:r>
              <a:rPr sz="1200" dirty="0">
                <a:solidFill>
                  <a:srgbClr val="000000"/>
                </a:solidFill>
              </a:rPr>
              <a:t>stable, stationary, periodic workloads. Cannot</a:t>
            </a:r>
          </a:p>
          <a:p>
            <a:r>
              <a:rPr sz="1200" dirty="0">
                <a:solidFill>
                  <a:srgbClr val="000000"/>
                </a:solidFill>
              </a:rPr>
              <a:t>capture sudden non-linear traffic bursts.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300" b="1" dirty="0">
                <a:solidFill>
                  <a:srgbClr val="0070C0"/>
                </a:solidFill>
              </a:rPr>
              <a:t>2.  Random Forest  (Ensemble ML)</a:t>
            </a:r>
          </a:p>
          <a:p>
            <a:r>
              <a:rPr sz="1200" dirty="0">
                <a:solidFill>
                  <a:srgbClr val="000000"/>
                </a:solidFill>
              </a:rPr>
              <a:t>Incorporates lag-based features and handles</a:t>
            </a:r>
          </a:p>
          <a:p>
            <a:r>
              <a:rPr sz="1200" dirty="0">
                <a:solidFill>
                  <a:srgbClr val="000000"/>
                </a:solidFill>
              </a:rPr>
              <a:t>non-linearity better than ARIMA. But makes</a:t>
            </a:r>
          </a:p>
          <a:p>
            <a:r>
              <a:rPr sz="1200" dirty="0">
                <a:solidFill>
                  <a:srgbClr val="000000"/>
                </a:solidFill>
              </a:rPr>
              <a:t>independent predictions with no memory of sequence.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300" b="1" dirty="0">
                <a:solidFill>
                  <a:srgbClr val="0070C0"/>
                </a:solidFill>
              </a:rPr>
              <a:t>3.  </a:t>
            </a:r>
            <a:r>
              <a:rPr sz="1300" b="1" dirty="0" err="1">
                <a:solidFill>
                  <a:srgbClr val="0070C0"/>
                </a:solidFill>
              </a:rPr>
              <a:t>XGBoost</a:t>
            </a:r>
            <a:r>
              <a:rPr sz="1300" b="1" dirty="0">
                <a:solidFill>
                  <a:srgbClr val="0070C0"/>
                </a:solidFill>
              </a:rPr>
              <a:t>  (Gradient Boosting)</a:t>
            </a:r>
          </a:p>
          <a:p>
            <a:r>
              <a:rPr sz="1200" dirty="0">
                <a:solidFill>
                  <a:srgbClr val="000000"/>
                </a:solidFill>
              </a:rPr>
              <a:t>Fast and accurate for tabular data with engineered</a:t>
            </a:r>
          </a:p>
          <a:p>
            <a:r>
              <a:rPr sz="1200" dirty="0">
                <a:solidFill>
                  <a:srgbClr val="000000"/>
                </a:solidFill>
              </a:rPr>
              <a:t>features. Lacks the temporal context needed for</a:t>
            </a:r>
          </a:p>
          <a:p>
            <a:r>
              <a:rPr sz="1200" dirty="0">
                <a:solidFill>
                  <a:srgbClr val="000000"/>
                </a:solidFill>
              </a:rPr>
              <a:t>multi-step time-series forecasting.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300" b="1" dirty="0">
                <a:solidFill>
                  <a:srgbClr val="0070C0"/>
                </a:solidFill>
              </a:rPr>
              <a:t>4.  LSTM  (Deep Learning)</a:t>
            </a:r>
          </a:p>
          <a:p>
            <a:r>
              <a:rPr sz="1200" dirty="0">
                <a:solidFill>
                  <a:srgbClr val="000000"/>
                </a:solidFill>
              </a:rPr>
              <a:t>Learns long-range temporal dependencies via gated</a:t>
            </a:r>
          </a:p>
          <a:p>
            <a:r>
              <a:rPr sz="1200" dirty="0">
                <a:solidFill>
                  <a:srgbClr val="000000"/>
                </a:solidFill>
              </a:rPr>
              <a:t>memory cells. Highly accurate but computationally</a:t>
            </a:r>
          </a:p>
          <a:p>
            <a:r>
              <a:rPr sz="1200" dirty="0">
                <a:solidFill>
                  <a:srgbClr val="000000"/>
                </a:solidFill>
              </a:rPr>
              <a:t>heavy — may be too slow for 30-second control loops.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300" b="1" dirty="0">
                <a:solidFill>
                  <a:srgbClr val="007036"/>
                </a:solidFill>
              </a:rPr>
              <a:t>5.  GRU  (State of the Art)</a:t>
            </a:r>
          </a:p>
          <a:p>
            <a:r>
              <a:rPr sz="1200" dirty="0">
                <a:solidFill>
                  <a:srgbClr val="000000"/>
                </a:solidFill>
              </a:rPr>
              <a:t>Matches LSTM accuracy with fewer parameters and</a:t>
            </a:r>
          </a:p>
          <a:p>
            <a:r>
              <a:rPr sz="1200" dirty="0">
                <a:solidFill>
                  <a:srgbClr val="000000"/>
                </a:solidFill>
              </a:rPr>
              <a:t>faster training/inference — ideal for real-time</a:t>
            </a:r>
          </a:p>
          <a:p>
            <a:r>
              <a:rPr sz="1200" dirty="0">
                <a:solidFill>
                  <a:srgbClr val="000000"/>
                </a:solidFill>
              </a:rPr>
              <a:t>cloud resource prediction in production systems.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301553" y="1463040"/>
            <a:ext cx="438912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 dirty="0">
                <a:solidFill>
                  <a:srgbClr val="C00000"/>
                </a:solidFill>
              </a:rPr>
              <a:t>Key Gaps in Existing Literature</a:t>
            </a:r>
          </a:p>
          <a:p>
            <a:endParaRPr sz="1500" b="1" dirty="0">
              <a:solidFill>
                <a:srgbClr val="C00000"/>
              </a:solidFill>
            </a:endParaRPr>
          </a:p>
          <a:p>
            <a:r>
              <a:rPr sz="1300" b="1" dirty="0">
                <a:solidFill>
                  <a:srgbClr val="C00000"/>
                </a:solidFill>
              </a:rPr>
              <a:t>Gap 1:  Offline Evaluation Only</a:t>
            </a:r>
          </a:p>
          <a:p>
            <a:r>
              <a:rPr sz="1200" dirty="0">
                <a:solidFill>
                  <a:srgbClr val="000000"/>
                </a:solidFill>
              </a:rPr>
              <a:t>Most studies benchmark models offline. None</a:t>
            </a:r>
          </a:p>
          <a:p>
            <a:r>
              <a:rPr sz="1200" dirty="0">
                <a:solidFill>
                  <a:srgbClr val="000000"/>
                </a:solidFill>
              </a:rPr>
              <a:t>connect the predictor to a live Kubernetes cluster.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300" b="1" dirty="0">
                <a:solidFill>
                  <a:srgbClr val="C00000"/>
                </a:solidFill>
              </a:rPr>
              <a:t>Gap 2:  Cold-Start Delay Ignored</a:t>
            </a:r>
          </a:p>
          <a:p>
            <a:r>
              <a:rPr sz="1200" dirty="0">
                <a:solidFill>
                  <a:srgbClr val="000000"/>
                </a:solidFill>
              </a:rPr>
              <a:t>No existing framework accounts for the 30-180 sec</a:t>
            </a:r>
          </a:p>
          <a:p>
            <a:r>
              <a:rPr sz="1200" dirty="0">
                <a:solidFill>
                  <a:srgbClr val="000000"/>
                </a:solidFill>
              </a:rPr>
              <a:t>pod startup delay in the scaling decision logic.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300" b="1" dirty="0">
                <a:solidFill>
                  <a:srgbClr val="C00000"/>
                </a:solidFill>
              </a:rPr>
              <a:t>Gap 3:  No Real-Time Control Loop</a:t>
            </a:r>
          </a:p>
          <a:p>
            <a:r>
              <a:rPr sz="1200" dirty="0">
                <a:solidFill>
                  <a:srgbClr val="000000"/>
                </a:solidFill>
              </a:rPr>
              <a:t>Forecasting models are not integrated into a</a:t>
            </a:r>
          </a:p>
          <a:p>
            <a:r>
              <a:rPr sz="1200" dirty="0">
                <a:solidFill>
                  <a:srgbClr val="000000"/>
                </a:solidFill>
              </a:rPr>
              <a:t>cyclic, automated Kubernetes scaling controller.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300" b="1" dirty="0">
                <a:solidFill>
                  <a:srgbClr val="C00000"/>
                </a:solidFill>
              </a:rPr>
              <a:t>Gap 4:  No Unified Observability</a:t>
            </a:r>
          </a:p>
          <a:p>
            <a:r>
              <a:rPr sz="1200" dirty="0">
                <a:solidFill>
                  <a:srgbClr val="000000"/>
                </a:solidFill>
              </a:rPr>
              <a:t>No dashboard correlates predicted load, actual</a:t>
            </a:r>
          </a:p>
          <a:p>
            <a:r>
              <a:rPr sz="1200" dirty="0">
                <a:solidFill>
                  <a:srgbClr val="000000"/>
                </a:solidFill>
              </a:rPr>
              <a:t>usage, and active replica count in real time.</a:t>
            </a: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400" b="1" dirty="0">
                <a:solidFill>
                  <a:srgbClr val="007036"/>
                </a:solidFill>
              </a:rPr>
              <a:t>How Our Work Addresses These Gaps</a:t>
            </a:r>
          </a:p>
          <a:p>
            <a:r>
              <a:rPr sz="1200" dirty="0">
                <a:solidFill>
                  <a:srgbClr val="000000"/>
                </a:solidFill>
              </a:rPr>
              <a:t>We connect a lightweight GRU model directly to</a:t>
            </a:r>
          </a:p>
          <a:p>
            <a:r>
              <a:rPr sz="1200" dirty="0">
                <a:solidFill>
                  <a:srgbClr val="000000"/>
                </a:solidFill>
              </a:rPr>
              <a:t>the Kubernetes REST API in a closed 30-sec loop,</a:t>
            </a:r>
          </a:p>
          <a:p>
            <a:r>
              <a:rPr sz="1200" dirty="0">
                <a:solidFill>
                  <a:srgbClr val="000000"/>
                </a:solidFill>
              </a:rPr>
              <a:t>with a 3-5 min look-ahead to pre-empt the cold-start</a:t>
            </a:r>
          </a:p>
          <a:p>
            <a:r>
              <a:rPr sz="1200" b="1" dirty="0">
                <a:solidFill>
                  <a:srgbClr val="007036"/>
                </a:solidFill>
              </a:rPr>
              <a:t>delay — and </a:t>
            </a:r>
            <a:r>
              <a:rPr sz="1200" b="1" dirty="0" err="1">
                <a:solidFill>
                  <a:srgbClr val="007036"/>
                </a:solidFill>
              </a:rPr>
              <a:t>visualise</a:t>
            </a:r>
            <a:r>
              <a:rPr sz="1200" b="1" dirty="0">
                <a:solidFill>
                  <a:srgbClr val="007036"/>
                </a:solidFill>
              </a:rPr>
              <a:t> everything live in Grafana.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>Conclusions and Future Scope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7200" y="1005840"/>
            <a:ext cx="10073148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1600" b="1" dirty="0">
              <a:solidFill>
                <a:srgbClr val="C00000"/>
              </a:solidFill>
            </a:endParaRP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sz="2000" b="1" dirty="0">
                <a:solidFill>
                  <a:srgbClr val="C00000"/>
                </a:solidFill>
              </a:rPr>
              <a:t>Current Project Status</a:t>
            </a:r>
          </a:p>
          <a:p>
            <a:r>
              <a:rPr sz="1800" dirty="0">
                <a:solidFill>
                  <a:srgbClr val="000000"/>
                </a:solidFill>
              </a:rPr>
              <a:t>The project is in the planning phase with SRS and SDS documents </a:t>
            </a:r>
            <a:r>
              <a:rPr sz="1800" dirty="0" err="1">
                <a:solidFill>
                  <a:srgbClr val="000000"/>
                </a:solidFill>
              </a:rPr>
              <a:t>completed</a:t>
            </a:r>
            <a:r>
              <a:rPr lang="en-US" sz="1800" dirty="0" err="1">
                <a:solidFill>
                  <a:srgbClr val="000000"/>
                </a:solidFill>
              </a:rPr>
              <a:t>,and</a:t>
            </a:r>
            <a:r>
              <a:rPr lang="en-US" sz="1800" dirty="0">
                <a:solidFill>
                  <a:srgbClr val="000000"/>
                </a:solidFill>
              </a:rPr>
              <a:t> with that we are working on preprocessing </a:t>
            </a:r>
            <a:r>
              <a:rPr lang="en-US" sz="1800" dirty="0" err="1">
                <a:solidFill>
                  <a:srgbClr val="000000"/>
                </a:solidFill>
              </a:rPr>
              <a:t>i.e</a:t>
            </a:r>
            <a:r>
              <a:rPr lang="en-US" sz="1800" dirty="0">
                <a:solidFill>
                  <a:srgbClr val="000000"/>
                </a:solidFill>
              </a:rPr>
              <a:t> collecting data to train our AI model. </a:t>
            </a:r>
            <a:endParaRPr sz="1800" dirty="0">
              <a:solidFill>
                <a:srgbClr val="000000"/>
              </a:solidFill>
            </a:endParaRPr>
          </a:p>
          <a:p>
            <a:endParaRPr sz="18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Conclusion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and future scope</a:t>
            </a:r>
          </a:p>
          <a:p>
            <a:r>
              <a:rPr lang="en-IN" sz="1800" dirty="0"/>
              <a:t>The proposed AI-powered cloud resource management system provides a proactive approach to auto-scaling by predicting future workload demand 3–5 minutes in advance. By integrating LSTM/GRU-based forecasting with Kubernetes, the system can scale resources before traffic spikes occur, helping reduce provisioning delays, SLA violations, and unnecessary resource consumption.</a:t>
            </a:r>
          </a:p>
          <a:p>
            <a:r>
              <a:rPr lang="en-IN" sz="1800" dirty="0"/>
              <a:t>The integration of Prometheus and Grafana enables real-time monitoring of actual workload, predicted demand, and scaling decisions. Overall, the project aims to transform traditional reactive auto-scaling into an intelligent, predictive, and cost-efficient cloud resource management framework.</a:t>
            </a:r>
          </a:p>
          <a:p>
            <a:endParaRPr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>References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20040" y="1130710"/>
            <a:ext cx="11247120" cy="52307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1500" dirty="0"/>
          </a:p>
          <a:p>
            <a:endParaRPr lang="en-IN" sz="1500" dirty="0">
              <a:solidFill>
                <a:srgbClr val="00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Rossi, A., Visentin, A., Carraro, D., Prestwich, S., &amp; Brown, K. N. (2025).</a:t>
            </a:r>
            <a:r>
              <a:rPr lang="en-IN" sz="1500" dirty="0"/>
              <a:t> Forecasting workload in cloud computing: towards uncertainty-aware predictions and transfer learning. </a:t>
            </a:r>
            <a:r>
              <a:rPr lang="en-IN" sz="1500" i="1" dirty="0"/>
              <a:t>Cluster Computing</a:t>
            </a:r>
            <a:r>
              <a:rPr lang="en-IN" sz="1500" dirty="0"/>
              <a:t>, 28, Article 258</a:t>
            </a:r>
            <a:r>
              <a:rPr lang="en-IN" sz="1500" baseline="30000" dirty="0"/>
              <a:t>.</a:t>
            </a:r>
            <a:r>
              <a:rPr lang="en-IN" sz="1500" dirty="0"/>
              <a:t> https://doi.org/10.1007/s10586-024-04933-2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Zanussi, L., Tessera, D., Massari, L., Bermejo, B., Juiz, C., &amp; </a:t>
            </a:r>
            <a:r>
              <a:rPr lang="en-IN" sz="1500" b="1" dirty="0" err="1"/>
              <a:t>Calzarossa</a:t>
            </a:r>
            <a:r>
              <a:rPr lang="en-IN" sz="1500" b="1" dirty="0"/>
              <a:t>, M. (2026).</a:t>
            </a:r>
            <a:r>
              <a:rPr lang="en-IN" sz="1500" dirty="0"/>
              <a:t> Load-aware predictive auto-scaling framework for cloud environments. </a:t>
            </a:r>
            <a:r>
              <a:rPr lang="en-IN" sz="1500" i="1" dirty="0"/>
              <a:t>Cluster Computing</a:t>
            </a:r>
            <a:r>
              <a:rPr lang="en-IN" sz="1500" dirty="0"/>
              <a:t>, 29, Article 197. https://doi.org/10.1007/s10586-026-05944-x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Pintye, I., Kovács, J., &amp; Lovas, R. (2024).</a:t>
            </a:r>
            <a:r>
              <a:rPr lang="en-IN" sz="1500" dirty="0"/>
              <a:t> Enhancing Machine Learning-Based Autoscaling for Cloud Resource Orchestration</a:t>
            </a:r>
            <a:r>
              <a:rPr lang="en-IN" sz="1500" baseline="30000" dirty="0"/>
              <a:t>.</a:t>
            </a:r>
            <a:r>
              <a:rPr lang="en-IN" sz="1500" dirty="0"/>
              <a:t> </a:t>
            </a:r>
            <a:r>
              <a:rPr lang="en-IN" sz="1500" i="1" dirty="0"/>
              <a:t>Journal of Grid Computing</a:t>
            </a:r>
            <a:r>
              <a:rPr lang="en-IN" sz="1500" dirty="0"/>
              <a:t>, 22, Article 68. https://doi.org/10.1007/s10723-024-09783-1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Nawrocki, P., &amp; </a:t>
            </a:r>
            <a:r>
              <a:rPr lang="en-IN" sz="1500" b="1" dirty="0" err="1"/>
              <a:t>Osypanka</a:t>
            </a:r>
            <a:r>
              <a:rPr lang="en-IN" sz="1500" b="1" dirty="0"/>
              <a:t>, P. (2021).</a:t>
            </a:r>
            <a:r>
              <a:rPr lang="en-IN" sz="1500" dirty="0"/>
              <a:t> Cloud Resource Demand Prediction using Machine Learning in the Context of QoS Parameters. </a:t>
            </a:r>
            <a:r>
              <a:rPr lang="en-IN" sz="1500" i="1" dirty="0"/>
              <a:t>Journal of Grid Computing</a:t>
            </a:r>
            <a:r>
              <a:rPr lang="en-IN" sz="1500" dirty="0"/>
              <a:t>, 19, Article 20.  https://doi.org/10.1007/s10723-021-09561-3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Moreno-</a:t>
            </a:r>
            <a:r>
              <a:rPr lang="en-IN" sz="1500" b="1" dirty="0" err="1"/>
              <a:t>Vozmediano</a:t>
            </a:r>
            <a:r>
              <a:rPr lang="en-IN" sz="1500" b="1" dirty="0"/>
              <a:t>, R., Montero, R. S., </a:t>
            </a:r>
            <a:r>
              <a:rPr lang="en-IN" sz="1500" b="1" dirty="0" err="1"/>
              <a:t>Huedo</a:t>
            </a:r>
            <a:r>
              <a:rPr lang="en-IN" sz="1500" b="1" dirty="0"/>
              <a:t>, E., &amp; Llorente, I. M. (2019).</a:t>
            </a:r>
            <a:r>
              <a:rPr lang="en-IN" sz="1500" dirty="0"/>
              <a:t> Efficient resource provisioning for elastic Cloud services based on machine learning techniques</a:t>
            </a:r>
            <a:r>
              <a:rPr lang="en-IN" sz="1500" baseline="30000" dirty="0"/>
              <a:t>[6]</a:t>
            </a:r>
            <a:r>
              <a:rPr lang="en-IN" sz="1500" dirty="0"/>
              <a:t>. </a:t>
            </a:r>
            <a:r>
              <a:rPr lang="en-IN" sz="1500" i="1" dirty="0"/>
              <a:t>Journal of Cloud Computing</a:t>
            </a:r>
            <a:r>
              <a:rPr lang="en-IN" sz="1500" dirty="0"/>
              <a:t>, 8, Article 5. </a:t>
            </a:r>
            <a:r>
              <a:rPr lang="en-IN" sz="1500" dirty="0">
                <a:hlinkClick r:id="rId3"/>
              </a:rPr>
              <a:t>https://doi.org/10.1186/s13677-019-0128-9</a:t>
            </a:r>
            <a:endParaRPr lang="en-IN" sz="15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R. </a:t>
            </a:r>
            <a:r>
              <a:rPr lang="en-IN" sz="1500" dirty="0" err="1"/>
              <a:t>Buyya</a:t>
            </a:r>
            <a:r>
              <a:rPr lang="en-IN" sz="1500" dirty="0"/>
              <a:t>, R. Ranjan, and R. N. Calheiros, “</a:t>
            </a:r>
            <a:r>
              <a:rPr lang="en-IN" sz="1500" dirty="0" err="1"/>
              <a:t>Modeling</a:t>
            </a:r>
            <a:r>
              <a:rPr lang="en-IN" sz="1500" dirty="0"/>
              <a:t> and Simulation of Scalable Cloud Computing Environments and the </a:t>
            </a:r>
            <a:r>
              <a:rPr lang="en-IN" sz="1500" dirty="0" err="1"/>
              <a:t>CloudSim</a:t>
            </a:r>
            <a:r>
              <a:rPr lang="en-IN" sz="1500" dirty="0"/>
              <a:t> Toolkit: Challenges and Opportunities,” 2009 International Conference on High Performance Computing &amp; Simulation (HPCS), IEEE, 2009.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M. Mao and M. Humphrey, “Auto-Scaling to Minimize Cost and Meet Application Deadlines in Cloud Workflows,” 2011 International Conference for High Performance Computing, Networking, Storage and Analysis (SC), IEEE/ACM, 2011.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Google Inc., Google Cluster Workload Traces v2, Google Cloud Platform Datasets, 2020.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NASA Ames Research </a:t>
            </a:r>
            <a:r>
              <a:rPr lang="en-IN" sz="1500" dirty="0" err="1"/>
              <a:t>Center</a:t>
            </a:r>
            <a:r>
              <a:rPr lang="en-IN" sz="1500" dirty="0"/>
              <a:t>, NASA HTTP Web Server Traffic Logs, NASA Data Repository, 2000.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S. Hochreiter and J. </a:t>
            </a:r>
            <a:r>
              <a:rPr lang="en-IN" sz="1500" dirty="0" err="1"/>
              <a:t>Schmidhuber</a:t>
            </a:r>
            <a:r>
              <a:rPr lang="en-IN" sz="1500" dirty="0"/>
              <a:t>, “Long Short-Term Memory,” Neural Computation, vol. 9, no. 8, 1997.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/>
          </a:p>
          <a:p>
            <a:endParaRPr sz="15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>
            <a:spLocks noGrp="1"/>
          </p:cNvSpPr>
          <p:nvPr>
            <p:ph type="ctrTitle"/>
          </p:nvPr>
        </p:nvSpPr>
        <p:spPr>
          <a:xfrm>
            <a:off x="1275907" y="411479"/>
            <a:ext cx="4804800" cy="27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b="1" i="0" dirty="0">
                <a:solidFill>
                  <a:srgbClr val="002060"/>
                </a:solidFill>
                <a:latin typeface="Edwardian Script ITC" panose="030303020407070D0804" pitchFamily="66" charset="0"/>
              </a:rPr>
              <a:t>Thank You!</a:t>
            </a:r>
            <a:endParaRPr dirty="0">
              <a:latin typeface="Edwardian Script ITC" panose="030303020407070D0804" pitchFamily="66" charset="0"/>
            </a:endParaRPr>
          </a:p>
        </p:txBody>
      </p:sp>
      <p:sp>
        <p:nvSpPr>
          <p:cNvPr id="198" name="Google Shape;198;p18"/>
          <p:cNvSpPr txBox="1">
            <a:spLocks noGrp="1"/>
          </p:cNvSpPr>
          <p:nvPr>
            <p:ph type="body" idx="1"/>
          </p:nvPr>
        </p:nvSpPr>
        <p:spPr>
          <a:xfrm>
            <a:off x="1275907" y="3721395"/>
            <a:ext cx="5273700" cy="25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IN" sz="1600" dirty="0">
                <a:latin typeface="Levenim MT" panose="020F0502020204030204" pitchFamily="2" charset="-79"/>
                <a:cs typeface="Levenim MT" panose="020F0502020204030204" pitchFamily="2" charset="-79"/>
              </a:rPr>
              <a:t>Pratistha Singh (Roll: </a:t>
            </a:r>
            <a:r>
              <a:rPr lang="en-IN" sz="1600" dirty="0" err="1">
                <a:latin typeface="Levenim MT" panose="020F0502020204030204" pitchFamily="2" charset="-79"/>
                <a:cs typeface="Levenim MT" panose="020F0502020204030204" pitchFamily="2" charset="-79"/>
              </a:rPr>
              <a:t>Btech</a:t>
            </a:r>
            <a:r>
              <a:rPr lang="en-IN" sz="1600" dirty="0">
                <a:latin typeface="Levenim MT" panose="020F0502020204030204" pitchFamily="2" charset="-79"/>
                <a:cs typeface="Levenim MT" panose="020F0502020204030204" pitchFamily="2" charset="-79"/>
              </a:rPr>
              <a:t>/25047/24 | CSE Sec A)</a:t>
            </a:r>
          </a:p>
          <a:p>
            <a:pPr lvl="0"/>
            <a:r>
              <a:rPr lang="en-IN" sz="1600" dirty="0">
                <a:latin typeface="Levenim MT" panose="020F0502020204030204" pitchFamily="2" charset="-79"/>
                <a:cs typeface="Levenim MT" panose="020F0502020204030204" pitchFamily="2" charset="-79"/>
              </a:rPr>
              <a:t>Arushi Goel (Roll: </a:t>
            </a:r>
            <a:r>
              <a:rPr lang="en-IN" sz="1600" dirty="0" err="1">
                <a:latin typeface="Levenim MT" panose="020F0502020204030204" pitchFamily="2" charset="-79"/>
                <a:cs typeface="Levenim MT" panose="020F0502020204030204" pitchFamily="2" charset="-79"/>
              </a:rPr>
              <a:t>Btech</a:t>
            </a:r>
            <a:r>
              <a:rPr lang="en-IN" sz="1600" dirty="0">
                <a:latin typeface="Levenim MT" panose="020F0502020204030204" pitchFamily="2" charset="-79"/>
                <a:cs typeface="Levenim MT" panose="020F0502020204030204" pitchFamily="2" charset="-79"/>
              </a:rPr>
              <a:t>/25111/24 | CSE Sec A)</a:t>
            </a:r>
          </a:p>
          <a:p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IN" sz="1600" dirty="0">
                <a:solidFill>
                  <a:schemeClr val="accent3">
                    <a:lumMod val="75000"/>
                  </a:schemeClr>
                </a:solidFill>
              </a:rPr>
              <a:t>Under the Supervision of</a:t>
            </a:r>
          </a:p>
          <a:p>
            <a:r>
              <a:rPr lang="en-IN" sz="1800" dirty="0">
                <a:solidFill>
                  <a:schemeClr val="accent3">
                    <a:lumMod val="75000"/>
                  </a:schemeClr>
                </a:solidFill>
              </a:rPr>
              <a:t>Dr. Kuntal Mukherji</a:t>
            </a:r>
          </a:p>
          <a:p>
            <a:r>
              <a:rPr lang="en-IN" sz="1200" dirty="0">
                <a:solidFill>
                  <a:schemeClr val="accent3">
                    <a:lumMod val="75000"/>
                  </a:schemeClr>
                </a:solidFill>
              </a:rPr>
              <a:t>Assistant Professor, BIT </a:t>
            </a:r>
            <a:r>
              <a:rPr lang="en-IN" sz="1200" dirty="0" err="1">
                <a:solidFill>
                  <a:schemeClr val="accent3">
                    <a:lumMod val="75000"/>
                  </a:schemeClr>
                </a:solidFill>
              </a:rPr>
              <a:t>Mesra</a:t>
            </a:r>
            <a:r>
              <a:rPr lang="en-IN" sz="1200" dirty="0">
                <a:solidFill>
                  <a:schemeClr val="accent3">
                    <a:lumMod val="75000"/>
                  </a:schemeClr>
                </a:solidFill>
              </a:rPr>
              <a:t> - Jaipur Campus</a:t>
            </a:r>
          </a:p>
          <a:p>
            <a:endParaRPr lang="en-IN" sz="180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IN" sz="1800" dirty="0">
              <a:solidFill>
                <a:schemeClr val="accent3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13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1733</Words>
  <Application>Microsoft Office PowerPoint</Application>
  <PresentationFormat>Widescreen</PresentationFormat>
  <Paragraphs>202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Aharoni</vt:lpstr>
      <vt:lpstr>Arial</vt:lpstr>
      <vt:lpstr>Calibri</vt:lpstr>
      <vt:lpstr>Candara</vt:lpstr>
      <vt:lpstr>Edwardian Script ITC</vt:lpstr>
      <vt:lpstr>Franklin Gothic</vt:lpstr>
      <vt:lpstr>Levenim MT</vt:lpstr>
      <vt:lpstr>Libre Franklin</vt:lpstr>
      <vt:lpstr>Wingdings</vt:lpstr>
      <vt:lpstr>Custom</vt:lpstr>
      <vt:lpstr>AI-Powered Cloud Resource Demand Prediction
and Auto-Scaling System</vt:lpstr>
      <vt:lpstr>Table of Contents</vt:lpstr>
      <vt:lpstr>Introduction</vt:lpstr>
      <vt:lpstr>Problem Statement and Objectives</vt:lpstr>
      <vt:lpstr>Dataset Description</vt:lpstr>
      <vt:lpstr>Design and Methodology  -  Part 1</vt:lpstr>
      <vt:lpstr>Design and Methodology  -  Part 2</vt:lpstr>
      <vt:lpstr>  Literature Review</vt:lpstr>
      <vt:lpstr>Conclusions and Future Scope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sharp shooter</cp:lastModifiedBy>
  <cp:revision>1</cp:revision>
  <dcterms:modified xsi:type="dcterms:W3CDTF">2026-09-22T20:31:12Z</dcterms:modified>
</cp:coreProperties>
</file>